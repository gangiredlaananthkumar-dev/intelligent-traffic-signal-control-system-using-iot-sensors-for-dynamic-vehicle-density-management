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Alexandria SemiBold" panose="020B0604020202020204" charset="-78"/>
      <p:regular r:id="rId13"/>
    </p:embeddedFont>
    <p:embeddedFont>
      <p:font typeface="Sora Light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33A705-E694-49E5-A798-D7AF8CDE6B0B}" v="1" dt="2026-10-01T08:37:31.0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9602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03794" y="1519833"/>
            <a:ext cx="6355993" cy="2969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Intelligent Traffic Signal Control System Using IoT Sensors for Dynamic Vehicle Density Management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03794" y="4760218"/>
            <a:ext cx="635599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smart, adaptive approach to urban traffic management through real-time IoT sensing and dynamic signal control.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84341A-A0D2-783F-B97C-6E4A55E9C9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6122" y="6279587"/>
            <a:ext cx="1247330" cy="5234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2EF3CEA-6578-4064-56BB-08F88CEF7431}"/>
              </a:ext>
            </a:extLst>
          </p:cNvPr>
          <p:cNvSpPr txBox="1"/>
          <p:nvPr/>
        </p:nvSpPr>
        <p:spPr>
          <a:xfrm>
            <a:off x="9097347" y="6218137"/>
            <a:ext cx="3396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GANGIREDLA ANANTH KUMAR</a:t>
            </a:r>
            <a:br>
              <a:rPr lang="en-IN" dirty="0"/>
            </a:br>
            <a:r>
              <a:rPr lang="en-IN" dirty="0"/>
              <a:t>323129520058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684808"/>
            <a:ext cx="6355993" cy="528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Problem Statement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631908" y="1571724"/>
            <a:ext cx="2981846" cy="264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The Urban Traffic Challenge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31908" y="1979414"/>
            <a:ext cx="2981846" cy="12159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Traffic congestion at road intersections is a </a:t>
            </a:r>
            <a:r>
              <a:rPr lang="en-US" sz="12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major challenge</a:t>
            </a: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in urban areas worldwide, causing cascading effects across transportation networks.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31908" y="3324225"/>
            <a:ext cx="2981846" cy="1559322"/>
          </a:xfrm>
          <a:prstGeom prst="rect">
            <a:avLst/>
          </a:prstGeom>
          <a:noFill/>
          <a:ln/>
        </p:spPr>
        <p:txBody>
          <a:bodyPr wrap="square" lIns="0" tIns="64320" rIns="0" bIns="0" rtlCol="0" anchor="t">
            <a:normAutofit/>
          </a:bodyPr>
          <a:lstStyle/>
          <a:p>
            <a:pPr marL="254000" indent="-254000" algn="l">
              <a:lnSpc>
                <a:spcPct val="126000"/>
              </a:lnSpc>
              <a:buSzPct val="100000"/>
              <a:buChar char="•"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Congestion increases travel time and causes unnecessary delays</a:t>
            </a:r>
            <a:endParaRPr lang="en-US" sz="1250" dirty="0"/>
          </a:p>
          <a:p>
            <a:pPr marL="254000" indent="-254000" algn="l">
              <a:lnSpc>
                <a:spcPct val="126000"/>
              </a:lnSpc>
              <a:buSzPct val="100000"/>
              <a:buChar char="•"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Excessive traffic contributes to increased fuel consumption</a:t>
            </a:r>
            <a:endParaRPr lang="en-US" sz="1250" dirty="0"/>
          </a:p>
          <a:p>
            <a:pPr marL="254000" indent="-254000" algn="l">
              <a:lnSpc>
                <a:spcPct val="126000"/>
              </a:lnSpc>
              <a:buSzPct val="100000"/>
              <a:buChar char="•"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Vehicle congestion increases environmental pollution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012405" y="1571724"/>
            <a:ext cx="2981846" cy="264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The Root Cause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4012405" y="1979414"/>
            <a:ext cx="2981846" cy="1459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Conventional traffic signals operate using </a:t>
            </a:r>
            <a:r>
              <a:rPr lang="en-US" sz="12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fixed timing schedules</a:t>
            </a: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that cannot adapt to changing traffic conditions — creating a fundamental mismatch between signal behavior and real-world demand.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012405" y="3599557"/>
            <a:ext cx="2981846" cy="1310878"/>
          </a:xfrm>
          <a:prstGeom prst="roundRect">
            <a:avLst>
              <a:gd name="adj" fmla="val 5152"/>
            </a:avLst>
          </a:prstGeom>
          <a:solidFill>
            <a:srgbClr val="FCF2B5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3135" y="3820021"/>
            <a:ext cx="200913" cy="16073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34779" y="3768626"/>
            <a:ext cx="2298742" cy="972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Fixed-time signals are unable to respond to real-time vehicle density, making them inefficient by design.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012405" y="5071467"/>
            <a:ext cx="2981846" cy="972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There is a clear need for an intelligent system that </a:t>
            </a:r>
            <a:r>
              <a:rPr lang="en-US" sz="12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dynamically controls signal timing</a:t>
            </a: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based on real-time vehicle density data.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969665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Proposed Solution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31908" y="1924645"/>
            <a:ext cx="1092787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An </a:t>
            </a: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Intelligent Traffic Signal Control System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powered by IoT sensors that continuously monitors and adapts to real-world traffic conditions.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1908" y="2705596"/>
            <a:ext cx="5373652" cy="1356618"/>
          </a:xfrm>
          <a:prstGeom prst="roundRect">
            <a:avLst>
              <a:gd name="adj" fmla="val 5590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8733" y="2892425"/>
            <a:ext cx="500000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Continuous Monitoring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18733" y="3297535"/>
            <a:ext cx="500000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IoT sensors continuously monitor vehicle density at road intersections in real time.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86035" y="2705596"/>
            <a:ext cx="5373752" cy="1356618"/>
          </a:xfrm>
          <a:prstGeom prst="roundRect">
            <a:avLst>
              <a:gd name="adj" fmla="val 5590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72859" y="2892425"/>
            <a:ext cx="5000103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Dynamic Adjustment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372859" y="3297535"/>
            <a:ext cx="500010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Traffic signal timings are automatically adjusted according to current traffic conditions.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1908" y="4242693"/>
            <a:ext cx="5373652" cy="1645543"/>
          </a:xfrm>
          <a:prstGeom prst="roundRect">
            <a:avLst>
              <a:gd name="adj" fmla="val 4608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733" y="4429522"/>
            <a:ext cx="500000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Real-Time Intelligence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18733" y="4834632"/>
            <a:ext cx="500000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Real-time traffic information is used to improve vehicle movement and reduce delays.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86035" y="4242693"/>
            <a:ext cx="5373752" cy="1645543"/>
          </a:xfrm>
          <a:prstGeom prst="roundRect">
            <a:avLst>
              <a:gd name="adj" fmla="val 4608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2859" y="4429522"/>
            <a:ext cx="5000103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Centralized Platform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372859" y="4834632"/>
            <a:ext cx="5000103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secure, user-friendly interface enables traffic authorities to monitor and manage intersections efficiently.</a:t>
            </a:r>
            <a:endParaRPr lang="en-US" sz="14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87D92C4-E14E-EF58-59F4-DE6BDA73A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5116" y="6375688"/>
            <a:ext cx="1149339" cy="4823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02245"/>
            <a:ext cx="10927878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Objectives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951409"/>
            <a:ext cx="5346963" cy="53470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9173" y="3067546"/>
            <a:ext cx="534696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Core Mission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19173" y="3276203"/>
            <a:ext cx="534696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system is designed to bridge the gap between static signal infrastructure and the dynamic nature of urban traffic — delivering measurable improvements across efficiency, environment, and authority oversight.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219173" y="3556992"/>
            <a:ext cx="5346963" cy="658416"/>
          </a:xfrm>
          <a:prstGeom prst="rect">
            <a:avLst/>
          </a:prstGeom>
          <a:noFill/>
          <a:ln/>
        </p:spPr>
        <p:txBody>
          <a:bodyPr wrap="square" lIns="0" tIns="38366" rIns="0" bIns="0" rtlCol="0" anchor="t">
            <a:normAutofit/>
          </a:bodyPr>
          <a:lstStyle/>
          <a:p>
            <a:pPr marL="152400" indent="-152400" algn="l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Real-time density detection and monitoring</a:t>
            </a:r>
            <a:endParaRPr lang="en-US" sz="750" dirty="0"/>
          </a:p>
          <a:p>
            <a:pPr marL="152400" indent="-152400" algn="l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Dynamic signal duration adjustment</a:t>
            </a:r>
            <a:endParaRPr lang="en-US" sz="750" dirty="0"/>
          </a:p>
          <a:p>
            <a:pPr marL="152400" indent="-152400" algn="l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Reduced congestion and travel delays</a:t>
            </a:r>
            <a:endParaRPr lang="en-US" sz="750" dirty="0"/>
          </a:p>
          <a:p>
            <a:pPr marL="152400" indent="-152400" algn="l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Improved fuel efficiency</a:t>
            </a:r>
            <a:endParaRPr lang="en-US" sz="750" dirty="0"/>
          </a:p>
          <a:p>
            <a:pPr marL="152400" indent="-152400" algn="l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Sustainable transportation management</a:t>
            </a:r>
            <a:endParaRPr lang="en-US" sz="7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3DB030-14EC-C26A-5101-109C854AC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3008" y="6199584"/>
            <a:ext cx="1568992" cy="6584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022945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System Components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08" y="1977926"/>
            <a:ext cx="361048" cy="3610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8574" y="2039938"/>
            <a:ext cx="476446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Ultrasonic Detection Sensors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218574" y="2445048"/>
            <a:ext cx="476446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Detect vehicles and estimate traffic density at each lane of an intersection.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8656" y="1977926"/>
            <a:ext cx="361048" cy="36105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95322" y="2039938"/>
            <a:ext cx="476446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Camera-Based Sensors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795322" y="2445048"/>
            <a:ext cx="476446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Alternative detection method for vehicle identification and density estimation.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908" y="3383955"/>
            <a:ext cx="361048" cy="36105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18574" y="3445966"/>
            <a:ext cx="476446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IoT Communication Modules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218574" y="3851077"/>
            <a:ext cx="476446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Transmit traffic information from sensors to the processing and cloud layer.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08656" y="3383955"/>
            <a:ext cx="361048" cy="36105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95322" y="3445966"/>
            <a:ext cx="476446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Cloud Connectivity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795322" y="3851077"/>
            <a:ext cx="476446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Centralized data management and monitoring for all connected intersections.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1908" y="4789984"/>
            <a:ext cx="361048" cy="36105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18574" y="4851995"/>
            <a:ext cx="476446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Traffic Signal Controllers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1218574" y="5257105"/>
            <a:ext cx="476446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Adjust signal durations dynamically based on processed analytics output.</a:t>
            </a:r>
            <a:endParaRPr lang="en-US" sz="14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08656" y="4789984"/>
            <a:ext cx="361048" cy="361057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795322" y="4851995"/>
            <a:ext cx="476446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Centralized Dashboard</a:t>
            </a:r>
            <a:endParaRPr lang="en-US" sz="1850" dirty="0"/>
          </a:p>
        </p:txBody>
      </p:sp>
      <p:sp>
        <p:nvSpPr>
          <p:cNvPr id="20" name="Text 12"/>
          <p:cNvSpPr/>
          <p:nvPr/>
        </p:nvSpPr>
        <p:spPr>
          <a:xfrm>
            <a:off x="6795322" y="5257105"/>
            <a:ext cx="476446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Displays traffic information, signal status, and system alerts in real time.</a:t>
            </a:r>
            <a:endParaRPr lang="en-US" sz="14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ABC0A2A-1D74-37BB-E4B3-FFD0BECA51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59441" y="6230398"/>
            <a:ext cx="1432559" cy="6011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10877"/>
            <a:ext cx="10927878" cy="528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System Working Process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31908" y="1326158"/>
            <a:ext cx="11537463" cy="243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seamless 10-step pipeline from sensor installation to authority oversight — fully automated and continuously active.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26" y="1730375"/>
            <a:ext cx="10577843" cy="39693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53684" y="4566230"/>
            <a:ext cx="1595436" cy="647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Real-time Analytics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42998" y="4404360"/>
            <a:ext cx="1595436" cy="970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Data Transmission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343239" y="4404360"/>
            <a:ext cx="1595436" cy="970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Continuous Measurement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343480" y="4566230"/>
            <a:ext cx="1595436" cy="647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Vehicle Detection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300010" y="4566230"/>
            <a:ext cx="1595436" cy="647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Sensors Installed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31908" y="5860752"/>
            <a:ext cx="10927878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Each step in the pipeline operates in a continuous feedback loop — ensuring the system remains responsive to changing traffic conditions at all times.</a:t>
            </a:r>
            <a:endParaRPr lang="en-US" sz="12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260E54C-2BFD-21DA-812A-5104851904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9120" y="6303717"/>
            <a:ext cx="1182970" cy="4964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619224"/>
            <a:ext cx="10927878" cy="584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Dynamic Traffic Signal Control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2204839"/>
            <a:ext cx="5815165" cy="329525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759009" y="1466155"/>
            <a:ext cx="4935017" cy="4772620"/>
          </a:xfrm>
          <a:prstGeom prst="roundRect">
            <a:avLst>
              <a:gd name="adj" fmla="val 2681"/>
            </a:avLst>
          </a:prstGeom>
          <a:solidFill>
            <a:srgbClr val="1A2D7A"/>
          </a:solidFill>
          <a:ln/>
        </p:spPr>
      </p:sp>
      <p:sp>
        <p:nvSpPr>
          <p:cNvPr id="5" name="Text 2"/>
          <p:cNvSpPr/>
          <p:nvPr/>
        </p:nvSpPr>
        <p:spPr>
          <a:xfrm>
            <a:off x="6936705" y="1641078"/>
            <a:ext cx="4579624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How Dynamic Control Works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936705" y="2108299"/>
            <a:ext cx="4579624" cy="846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Real-time vehicle density directly influences traffic signal timing — replacing rigid fixed schedules with intelligent, condition-responsive control.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936705" y="3111897"/>
            <a:ext cx="4579624" cy="3065661"/>
          </a:xfrm>
          <a:prstGeom prst="rect">
            <a:avLst/>
          </a:prstGeom>
          <a:noFill/>
          <a:ln/>
        </p:spPr>
        <p:txBody>
          <a:bodyPr wrap="square" lIns="0" tIns="71090" rIns="0" bIns="0" rtlCol="0" anchor="t">
            <a:normAutofit/>
          </a:bodyPr>
          <a:lstStyle/>
          <a:p>
            <a:pPr marL="274320" indent="-274320" algn="l">
              <a:lnSpc>
                <a:spcPct val="132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Higher vehicle density receives longer signal durations</a:t>
            </a:r>
            <a:endParaRPr lang="en-US" sz="1350" dirty="0"/>
          </a:p>
          <a:p>
            <a:pPr marL="274320" indent="-274320" algn="l">
              <a:lnSpc>
                <a:spcPct val="132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Lower-density lanes receive appropriately shorter durations</a:t>
            </a:r>
            <a:endParaRPr lang="en-US" sz="1350" dirty="0"/>
          </a:p>
          <a:p>
            <a:pPr marL="274320" indent="-274320" algn="l">
              <a:lnSpc>
                <a:spcPct val="132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Dynamic control prevents inefficient fixed-time operation</a:t>
            </a:r>
            <a:endParaRPr lang="en-US" sz="1350" dirty="0"/>
          </a:p>
          <a:p>
            <a:pPr marL="274320" indent="-274320" algn="l">
              <a:lnSpc>
                <a:spcPct val="132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Continuous monitoring enables response to changing conditions</a:t>
            </a:r>
            <a:endParaRPr lang="en-US" sz="1350" dirty="0"/>
          </a:p>
          <a:p>
            <a:pPr marL="274320" indent="-274320" algn="l">
              <a:lnSpc>
                <a:spcPct val="132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Goal: optimize vehicle movement and improve intersection flow</a:t>
            </a:r>
            <a:endParaRPr lang="en-US" sz="13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A70798-2273-AA43-695B-D554162057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2598" y="6326119"/>
            <a:ext cx="1267462" cy="5318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42429"/>
            <a:ext cx="10927878" cy="575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Monitoring Dashboard and Analytics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31908" y="1456531"/>
            <a:ext cx="10927878" cy="550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centralized dashboard provides traffic authorities with a comprehensive, real-time view of all intersection activity and system health.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08" y="2197993"/>
            <a:ext cx="3529718" cy="16033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1975" y="2391866"/>
            <a:ext cx="3065783" cy="28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Live Vehicle Density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01975" y="2781201"/>
            <a:ext cx="3065783" cy="826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Real-time vehicle count at each intersection lane, updated continuously from sensor feeds.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0989" y="2197993"/>
            <a:ext cx="3529718" cy="16033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01055" y="2391866"/>
            <a:ext cx="3065783" cy="28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Current Signal Status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4601055" y="2781201"/>
            <a:ext cx="3065783" cy="826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Active signal phases and timing displayed for all monitored intersections.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0069" y="2197993"/>
            <a:ext cx="3529718" cy="16033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00135" y="2391866"/>
            <a:ext cx="3065783" cy="28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Congestion Levels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8300135" y="2781201"/>
            <a:ext cx="3065783" cy="826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Traffic intensity classification enabling rapid identification of problem areas.</a:t>
            </a:r>
            <a:endParaRPr lang="en-US" sz="13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08" y="3970734"/>
            <a:ext cx="3529718" cy="16033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01975" y="4164608"/>
            <a:ext cx="3065783" cy="28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Historical Traffic Trends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901975" y="4553942"/>
            <a:ext cx="3065783" cy="826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Pattern analysis for traffic prediction and long-term infrastructure planning.</a:t>
            </a:r>
            <a:endParaRPr lang="en-US" sz="13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0989" y="3970734"/>
            <a:ext cx="3529718" cy="160337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601055" y="4164608"/>
            <a:ext cx="3065783" cy="28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System Alerts</a:t>
            </a:r>
            <a:endParaRPr lang="en-US" sz="1800" dirty="0"/>
          </a:p>
        </p:txBody>
      </p:sp>
      <p:sp>
        <p:nvSpPr>
          <p:cNvPr id="18" name="Text 11"/>
          <p:cNvSpPr/>
          <p:nvPr/>
        </p:nvSpPr>
        <p:spPr>
          <a:xfrm>
            <a:off x="4601055" y="4553942"/>
            <a:ext cx="3065783" cy="826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Automated notifications for anomalies, sensor faults, and critical traffic conditions.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631908" y="5764709"/>
            <a:ext cx="10927878" cy="550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Historical trends enable traffic authorities to understand recurring patterns and make data-driven decisions for better long-term traffic management.</a:t>
            </a:r>
            <a:endParaRPr lang="en-US" sz="13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E8789BA-F427-B0DB-8863-08C9A224E6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1934" y="6315571"/>
            <a:ext cx="1255704" cy="5269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496491"/>
            <a:ext cx="1092787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Benefits and Applications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31908" y="3085902"/>
            <a:ext cx="5353809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Key Benefits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31908" y="3285034"/>
            <a:ext cx="2654333" cy="603250"/>
          </a:xfrm>
          <a:prstGeom prst="roundRect">
            <a:avLst>
              <a:gd name="adj" fmla="val 6285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8446" y="3381573"/>
            <a:ext cx="2461258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Reduced Congestion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28446" y="3575050"/>
            <a:ext cx="2461258" cy="108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Less gridlock and improved intersection throughput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331285" y="3285034"/>
            <a:ext cx="2654432" cy="603250"/>
          </a:xfrm>
          <a:prstGeom prst="roundRect">
            <a:avLst>
              <a:gd name="adj" fmla="val 6285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7823" y="3381573"/>
            <a:ext cx="2461357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Fuel Efficiency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27823" y="3575050"/>
            <a:ext cx="2461357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Reduced idling and unnecessary waiting lowers consumption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631908" y="3933329"/>
            <a:ext cx="2654333" cy="494903"/>
          </a:xfrm>
          <a:prstGeom prst="roundRect">
            <a:avLst>
              <a:gd name="adj" fmla="val 7661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8446" y="4029869"/>
            <a:ext cx="2461258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Real-Time Monitoring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28446" y="4223345"/>
            <a:ext cx="2461258" cy="108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Authorities gain live visibility into all traffic conditions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331285" y="3933329"/>
            <a:ext cx="2654432" cy="494903"/>
          </a:xfrm>
          <a:prstGeom prst="roundRect">
            <a:avLst>
              <a:gd name="adj" fmla="val 7661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7823" y="4029869"/>
            <a:ext cx="2461357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Smarter Signals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27823" y="4223345"/>
            <a:ext cx="2461357" cy="108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More efficient use of traffic signal infrastructure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212327" y="906066"/>
            <a:ext cx="5353809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Application Domains</a:t>
            </a:r>
            <a:endParaRPr lang="en-US" sz="9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327" y="1105198"/>
            <a:ext cx="5353809" cy="5353943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212327" y="6509841"/>
            <a:ext cx="5963394" cy="108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system is designed to be </a:t>
            </a:r>
            <a:r>
              <a:rPr lang="en-US" sz="7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secure and scalable</a:t>
            </a: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across all deployment environments.</a:t>
            </a:r>
            <a:endParaRPr lang="en-US" sz="7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0B29DD-3962-4EA4-5588-329F205D70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972" y="6359878"/>
            <a:ext cx="1042302" cy="4373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552847"/>
            <a:ext cx="6355993" cy="51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31908" y="1263055"/>
            <a:ext cx="6355993" cy="4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</a:t>
            </a:r>
            <a:r>
              <a:rPr lang="en-US" sz="12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Intelligent Traffic Signal Control System</a:t>
            </a: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represents a modern, data-driven approach to one of urban infrastructure's most persistent challenges.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14199" y="1927820"/>
            <a:ext cx="5873702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IoT-Powered Monitoring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14199" y="2262981"/>
            <a:ext cx="5873702" cy="4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Continuous vehicle density monitoring through ultrasonic and camera-based IoT sensors.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14199" y="3044428"/>
            <a:ext cx="5873702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Dynamic Signal Intelligence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14199" y="3379589"/>
            <a:ext cx="5873702" cy="4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Real-time analytics drive adaptive signal timing, reducing congestion, delays, and fuel consumption.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14199" y="4161036"/>
            <a:ext cx="5873702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Centralized Authority Control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14199" y="4496197"/>
            <a:ext cx="5873702" cy="4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Traffic authorities gain efficient, real-time oversight of all road conditions through a unified dashboard.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14199" y="5277644"/>
            <a:ext cx="5873702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Sustainable Smart Cities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14199" y="5612805"/>
            <a:ext cx="5873702" cy="692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solution supports sustainable transportation and smart city development — creating more efficient, responsive, and intelligent urban mobility systems.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771</Words>
  <Application>Microsoft Office PowerPoint</Application>
  <PresentationFormat>Widescreen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Alexandria SemiBold</vt:lpstr>
      <vt:lpstr>Sora Bold</vt:lpstr>
      <vt:lpstr>Arial</vt:lpstr>
      <vt:lpstr>Sora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LOKESH VARMA</dc:creator>
  <cp:lastModifiedBy>LOKESH VARMA</cp:lastModifiedBy>
  <cp:revision>3</cp:revision>
  <dcterms:created xsi:type="dcterms:W3CDTF">2026-08-20T04:36:10Z</dcterms:created>
  <dcterms:modified xsi:type="dcterms:W3CDTF">2026-10-01T08:38:23Z</dcterms:modified>
</cp:coreProperties>
</file>